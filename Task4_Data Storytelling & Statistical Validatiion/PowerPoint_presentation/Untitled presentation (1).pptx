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599bd973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599bd973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599bd973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599bd973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599bd973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599bd973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f599bd973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f599bd973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f599bd973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f599bd973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f599bd9734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f599bd9734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f599bd973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f599bd973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599bd973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f599bd973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f599bd9734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f599bd973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599bd973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f599bd973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3999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900"/>
              <a:t>Sales Data Analysis Dashboard -Data Storytelling &amp; Statistical Validation</a:t>
            </a:r>
            <a:r>
              <a:rPr lang="en" sz="1900"/>
              <a:t> </a:t>
            </a:r>
            <a:endParaRPr sz="3600"/>
          </a:p>
        </p:txBody>
      </p:sp>
      <p:sp>
        <p:nvSpPr>
          <p:cNvPr id="55" name="Google Shape;55;p1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Storytelling &amp; Statistical Validation </a:t>
            </a:r>
            <a:endParaRPr/>
          </a:p>
          <a:p>
            <a:pPr indent="0" lvl="0" marL="0" rtl="0" algn="l">
              <a:spcBef>
                <a:spcPts val="1200"/>
              </a:spcBef>
              <a:spcAft>
                <a:spcPts val="0"/>
              </a:spcAft>
              <a:buNone/>
            </a:pPr>
            <a:r>
              <a:rPr lang="en"/>
              <a:t>ApexPlanet Software Pvt. Ltd. </a:t>
            </a:r>
            <a:endParaRPr/>
          </a:p>
          <a:p>
            <a:pPr indent="0" lvl="0" marL="0" rtl="0" algn="l">
              <a:spcBef>
                <a:spcPts val="1200"/>
              </a:spcBef>
              <a:spcAft>
                <a:spcPts val="0"/>
              </a:spcAft>
              <a:buNone/>
            </a:pPr>
            <a:r>
              <a:rPr lang="en"/>
              <a:t>Task 4 </a:t>
            </a:r>
            <a:endParaRPr/>
          </a:p>
          <a:p>
            <a:pPr indent="0" lvl="0" marL="0" rtl="0" algn="l">
              <a:spcBef>
                <a:spcPts val="1200"/>
              </a:spcBef>
              <a:spcAft>
                <a:spcPts val="0"/>
              </a:spcAft>
              <a:buNone/>
            </a:pPr>
            <a:r>
              <a:rPr lang="en"/>
              <a:t>Prepared by: </a:t>
            </a:r>
            <a:endParaRPr/>
          </a:p>
          <a:p>
            <a:pPr indent="0" lvl="0" marL="0" rtl="0" algn="l">
              <a:spcBef>
                <a:spcPts val="1200"/>
              </a:spcBef>
              <a:spcAft>
                <a:spcPts val="1200"/>
              </a:spcAft>
              <a:buNone/>
            </a:pPr>
            <a:r>
              <a:rPr lang="en"/>
              <a:t>ontipuli.susmitha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Objective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Analyze sales performance. </a:t>
            </a:r>
            <a:endParaRPr/>
          </a:p>
          <a:p>
            <a:pPr indent="0" lvl="0" marL="0" rtl="0" algn="l">
              <a:spcBef>
                <a:spcPts val="1200"/>
              </a:spcBef>
              <a:spcAft>
                <a:spcPts val="0"/>
              </a:spcAft>
              <a:buNone/>
            </a:pPr>
            <a:r>
              <a:rPr lang="en"/>
              <a:t>• Identify top-selling products. </a:t>
            </a:r>
            <a:endParaRPr/>
          </a:p>
          <a:p>
            <a:pPr indent="0" lvl="0" marL="0" rtl="0" algn="l">
              <a:spcBef>
                <a:spcPts val="1200"/>
              </a:spcBef>
              <a:spcAft>
                <a:spcPts val="0"/>
              </a:spcAft>
              <a:buNone/>
            </a:pPr>
            <a:r>
              <a:rPr lang="en"/>
              <a:t>• Compare sales across cities. </a:t>
            </a:r>
            <a:endParaRPr/>
          </a:p>
          <a:p>
            <a:pPr indent="0" lvl="0" marL="0" rtl="0" algn="l">
              <a:spcBef>
                <a:spcPts val="1200"/>
              </a:spcBef>
              <a:spcAft>
                <a:spcPts val="0"/>
              </a:spcAft>
              <a:buNone/>
            </a:pPr>
            <a:r>
              <a:rPr lang="en"/>
              <a:t>• Study monthly sales trends. </a:t>
            </a:r>
            <a:endParaRPr/>
          </a:p>
          <a:p>
            <a:pPr indent="0" lvl="0" marL="0" rtl="0" algn="l">
              <a:spcBef>
                <a:spcPts val="1200"/>
              </a:spcBef>
              <a:spcAft>
                <a:spcPts val="1200"/>
              </a:spcAft>
              <a:buNone/>
            </a:pPr>
            <a:r>
              <a:rPr lang="en"/>
              <a:t>• Support data-driven business decision-making.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1010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Interactive Power BI Dashboard</a:t>
            </a:r>
            <a:endParaRPr/>
          </a:p>
        </p:txBody>
      </p:sp>
      <p:sp>
        <p:nvSpPr>
          <p:cNvPr id="67" name="Google Shape;67;p15"/>
          <p:cNvSpPr txBox="1"/>
          <p:nvPr>
            <p:ph idx="1" type="body"/>
          </p:nvPr>
        </p:nvSpPr>
        <p:spPr>
          <a:xfrm>
            <a:off x="311700" y="673775"/>
            <a:ext cx="8520600" cy="3658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jj</a:t>
            </a:r>
            <a:r>
              <a:rPr lang="en"/>
              <a:t>The dashboard provides an interactive view of sales performance across products, cities, categories, and months using KPIs and visualizations. </a:t>
            </a:r>
            <a:endParaRPr/>
          </a:p>
        </p:txBody>
      </p:sp>
      <p:pic>
        <p:nvPicPr>
          <p:cNvPr id="68" name="Google Shape;68;p15" title="Screenshot 2026-07-23 113329.png"/>
          <p:cNvPicPr preferRelativeResize="0"/>
          <p:nvPr/>
        </p:nvPicPr>
        <p:blipFill>
          <a:blip r:embed="rId3">
            <a:alphaModFix/>
          </a:blip>
          <a:stretch>
            <a:fillRect/>
          </a:stretch>
        </p:blipFill>
        <p:spPr>
          <a:xfrm>
            <a:off x="311700" y="760525"/>
            <a:ext cx="5000075" cy="3571700"/>
          </a:xfrm>
          <a:prstGeom prst="rect">
            <a:avLst/>
          </a:prstGeom>
          <a:noFill/>
          <a:ln>
            <a:noFill/>
          </a:ln>
        </p:spPr>
      </p:pic>
      <p:pic>
        <p:nvPicPr>
          <p:cNvPr id="69" name="Google Shape;69;p15" title="Screenshot 2026-07-23 113414.png"/>
          <p:cNvPicPr preferRelativeResize="0"/>
          <p:nvPr/>
        </p:nvPicPr>
        <p:blipFill>
          <a:blip r:embed="rId4">
            <a:alphaModFix/>
          </a:blip>
          <a:stretch>
            <a:fillRect/>
          </a:stretch>
        </p:blipFill>
        <p:spPr>
          <a:xfrm>
            <a:off x="4016250" y="760525"/>
            <a:ext cx="4816048" cy="3520825"/>
          </a:xfrm>
          <a:prstGeom prst="rect">
            <a:avLst/>
          </a:prstGeom>
          <a:noFill/>
          <a:ln>
            <a:noFill/>
          </a:ln>
        </p:spPr>
      </p:pic>
      <p:sp>
        <p:nvSpPr>
          <p:cNvPr id="70" name="Google Shape;70;p15"/>
          <p:cNvSpPr txBox="1"/>
          <p:nvPr/>
        </p:nvSpPr>
        <p:spPr>
          <a:xfrm>
            <a:off x="335875" y="4332225"/>
            <a:ext cx="8692800" cy="68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The dashboard provides an interactive view of sales performance across products, cities, categories, and months using KPIs and visualizations. </a:t>
            </a:r>
            <a:endParaRPr sz="11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Findings </a:t>
            </a:r>
            <a:endParaRPr/>
          </a:p>
        </p:txBody>
      </p:sp>
      <p:sp>
        <p:nvSpPr>
          <p:cNvPr id="76" name="Google Shape;76;p16"/>
          <p:cNvSpPr txBox="1"/>
          <p:nvPr>
            <p:ph idx="1" type="body"/>
          </p:nvPr>
        </p:nvSpPr>
        <p:spPr>
          <a:xfrm>
            <a:off x="236500" y="1152475"/>
            <a:ext cx="8520600" cy="3416400"/>
          </a:xfrm>
          <a:prstGeom prst="rect">
            <a:avLst/>
          </a:prstGeom>
        </p:spPr>
        <p:txBody>
          <a:bodyPr anchorCtr="0" anchor="t" bIns="91425" lIns="91425" spcFirstLastPara="1" rIns="91425" wrap="square" tIns="91425">
            <a:normAutofit fontScale="32500" lnSpcReduction="20000"/>
          </a:bodyPr>
          <a:lstStyle/>
          <a:p>
            <a:pPr indent="0" lvl="0" marL="0" rtl="0" algn="l">
              <a:lnSpc>
                <a:spcPct val="150000"/>
              </a:lnSpc>
              <a:spcBef>
                <a:spcPts val="1800"/>
              </a:spcBef>
              <a:spcAft>
                <a:spcPts val="0"/>
              </a:spcAft>
              <a:buClr>
                <a:schemeClr val="dk1"/>
              </a:buClr>
              <a:buSzPct val="57895"/>
              <a:buFont typeface="Arial"/>
              <a:buNone/>
            </a:pPr>
            <a:r>
              <a:t/>
            </a:r>
            <a:endParaRPr b="1" sz="1900">
              <a:solidFill>
                <a:schemeClr val="dk1"/>
              </a:solidFill>
            </a:endParaRPr>
          </a:p>
          <a:p>
            <a:pPr indent="-332989" lvl="0" marL="457200" rtl="0" algn="l">
              <a:lnSpc>
                <a:spcPct val="150000"/>
              </a:lnSpc>
              <a:spcBef>
                <a:spcPts val="1200"/>
              </a:spcBef>
              <a:spcAft>
                <a:spcPts val="0"/>
              </a:spcAft>
              <a:buClr>
                <a:schemeClr val="dk1"/>
              </a:buClr>
              <a:buSzPct val="104117"/>
              <a:buChar char="●"/>
            </a:pPr>
            <a:r>
              <a:rPr lang="en" sz="4858">
                <a:solidFill>
                  <a:schemeClr val="dk1"/>
                </a:solidFill>
              </a:rPr>
              <a:t>📊 Total Sales: </a:t>
            </a:r>
            <a:r>
              <a:rPr b="1" lang="en" sz="4858">
                <a:solidFill>
                  <a:schemeClr val="dk1"/>
                </a:solidFill>
              </a:rPr>
              <a:t>139.40M</a:t>
            </a:r>
            <a:endParaRPr b="1" sz="4858">
              <a:solidFill>
                <a:schemeClr val="dk1"/>
              </a:solidFill>
            </a:endParaRPr>
          </a:p>
          <a:p>
            <a:pPr indent="-332989" lvl="0" marL="457200" rtl="0" algn="l">
              <a:lnSpc>
                <a:spcPct val="150000"/>
              </a:lnSpc>
              <a:spcBef>
                <a:spcPts val="0"/>
              </a:spcBef>
              <a:spcAft>
                <a:spcPts val="0"/>
              </a:spcAft>
              <a:buClr>
                <a:schemeClr val="dk1"/>
              </a:buClr>
              <a:buSzPct val="104117"/>
              <a:buChar char="●"/>
            </a:pPr>
            <a:r>
              <a:rPr lang="en" sz="4858">
                <a:solidFill>
                  <a:schemeClr val="dk1"/>
                </a:solidFill>
              </a:rPr>
              <a:t>🛒 Total Orders: </a:t>
            </a:r>
            <a:r>
              <a:rPr b="1" lang="en" sz="4858">
                <a:solidFill>
                  <a:schemeClr val="dk1"/>
                </a:solidFill>
              </a:rPr>
              <a:t>1000</a:t>
            </a:r>
            <a:endParaRPr b="1" sz="4858">
              <a:solidFill>
                <a:schemeClr val="dk1"/>
              </a:solidFill>
            </a:endParaRPr>
          </a:p>
          <a:p>
            <a:pPr indent="-332989" lvl="0" marL="457200" rtl="0" algn="l">
              <a:lnSpc>
                <a:spcPct val="150000"/>
              </a:lnSpc>
              <a:spcBef>
                <a:spcPts val="0"/>
              </a:spcBef>
              <a:spcAft>
                <a:spcPts val="0"/>
              </a:spcAft>
              <a:buClr>
                <a:schemeClr val="dk1"/>
              </a:buClr>
              <a:buSzPct val="104117"/>
              <a:buChar char="●"/>
            </a:pPr>
            <a:r>
              <a:rPr lang="en" sz="4858">
                <a:solidFill>
                  <a:schemeClr val="dk1"/>
                </a:solidFill>
              </a:rPr>
              <a:t>👥 Total Customers: </a:t>
            </a:r>
            <a:r>
              <a:rPr b="1" lang="en" sz="4858">
                <a:solidFill>
                  <a:schemeClr val="dk1"/>
                </a:solidFill>
              </a:rPr>
              <a:t>947</a:t>
            </a:r>
            <a:endParaRPr b="1" sz="4858">
              <a:solidFill>
                <a:schemeClr val="dk1"/>
              </a:solidFill>
            </a:endParaRPr>
          </a:p>
          <a:p>
            <a:pPr indent="-332989" lvl="0" marL="457200" rtl="0" algn="l">
              <a:lnSpc>
                <a:spcPct val="150000"/>
              </a:lnSpc>
              <a:spcBef>
                <a:spcPts val="0"/>
              </a:spcBef>
              <a:spcAft>
                <a:spcPts val="0"/>
              </a:spcAft>
              <a:buClr>
                <a:schemeClr val="dk1"/>
              </a:buClr>
              <a:buSzPct val="104117"/>
              <a:buChar char="●"/>
            </a:pPr>
            <a:r>
              <a:rPr lang="en" sz="4858">
                <a:solidFill>
                  <a:schemeClr val="dk1"/>
                </a:solidFill>
              </a:rPr>
              <a:t>📦 Total Quantity Sold: </a:t>
            </a:r>
            <a:r>
              <a:rPr b="1" lang="en" sz="4858">
                <a:solidFill>
                  <a:schemeClr val="dk1"/>
                </a:solidFill>
              </a:rPr>
              <a:t>5000</a:t>
            </a:r>
            <a:endParaRPr b="1" sz="4858">
              <a:solidFill>
                <a:schemeClr val="dk1"/>
              </a:solidFill>
            </a:endParaRPr>
          </a:p>
          <a:p>
            <a:pPr indent="-332989" lvl="0" marL="457200" rtl="0" algn="l">
              <a:lnSpc>
                <a:spcPct val="150000"/>
              </a:lnSpc>
              <a:spcBef>
                <a:spcPts val="0"/>
              </a:spcBef>
              <a:spcAft>
                <a:spcPts val="0"/>
              </a:spcAft>
              <a:buClr>
                <a:schemeClr val="dk1"/>
              </a:buClr>
              <a:buSzPct val="104117"/>
              <a:buChar char="●"/>
            </a:pPr>
            <a:r>
              <a:rPr lang="en" sz="4858">
                <a:solidFill>
                  <a:schemeClr val="dk1"/>
                </a:solidFill>
              </a:rPr>
              <a:t>🏆 Highest Sales Category: </a:t>
            </a:r>
            <a:r>
              <a:rPr b="1" lang="en" sz="4858">
                <a:solidFill>
                  <a:schemeClr val="dk1"/>
                </a:solidFill>
              </a:rPr>
              <a:t>Electronics</a:t>
            </a:r>
            <a:endParaRPr b="1" sz="4858">
              <a:solidFill>
                <a:schemeClr val="dk1"/>
              </a:solidFill>
            </a:endParaRPr>
          </a:p>
          <a:p>
            <a:pPr indent="-332989" lvl="0" marL="457200" rtl="0" algn="l">
              <a:lnSpc>
                <a:spcPct val="150000"/>
              </a:lnSpc>
              <a:spcBef>
                <a:spcPts val="0"/>
              </a:spcBef>
              <a:spcAft>
                <a:spcPts val="0"/>
              </a:spcAft>
              <a:buClr>
                <a:schemeClr val="dk1"/>
              </a:buClr>
              <a:buSzPct val="104117"/>
              <a:buChar char="●"/>
            </a:pPr>
            <a:r>
              <a:rPr lang="en" sz="4858">
                <a:solidFill>
                  <a:schemeClr val="dk1"/>
                </a:solidFill>
              </a:rPr>
              <a:t>💻 Top-Selling Product: </a:t>
            </a:r>
            <a:r>
              <a:rPr b="1" lang="en" sz="4858">
                <a:solidFill>
                  <a:schemeClr val="dk1"/>
                </a:solidFill>
              </a:rPr>
              <a:t>Laptop</a:t>
            </a:r>
            <a:endParaRPr b="1" sz="4858">
              <a:solidFill>
                <a:schemeClr val="dk1"/>
              </a:solidFill>
            </a:endParaRPr>
          </a:p>
          <a:p>
            <a:pPr indent="-332989" lvl="0" marL="457200" rtl="0" algn="l">
              <a:lnSpc>
                <a:spcPct val="150000"/>
              </a:lnSpc>
              <a:spcBef>
                <a:spcPts val="0"/>
              </a:spcBef>
              <a:spcAft>
                <a:spcPts val="0"/>
              </a:spcAft>
              <a:buClr>
                <a:schemeClr val="dk1"/>
              </a:buClr>
              <a:buSzPct val="104117"/>
              <a:buChar char="●"/>
            </a:pPr>
            <a:r>
              <a:rPr lang="en" sz="4858">
                <a:solidFill>
                  <a:schemeClr val="dk1"/>
                </a:solidFill>
              </a:rPr>
              <a:t>🌍 Highest Sales City: </a:t>
            </a:r>
            <a:r>
              <a:rPr b="1" lang="en" sz="4858">
                <a:solidFill>
                  <a:schemeClr val="dk1"/>
                </a:solidFill>
              </a:rPr>
              <a:t>Patna</a:t>
            </a:r>
            <a:endParaRPr b="1" sz="4858">
              <a:solidFill>
                <a:schemeClr val="dk1"/>
              </a:solidFill>
            </a:endParaRPr>
          </a:p>
          <a:p>
            <a:pPr indent="-332989" lvl="0" marL="457200" rtl="0" algn="l">
              <a:lnSpc>
                <a:spcPct val="150000"/>
              </a:lnSpc>
              <a:spcBef>
                <a:spcPts val="0"/>
              </a:spcBef>
              <a:spcAft>
                <a:spcPts val="0"/>
              </a:spcAft>
              <a:buClr>
                <a:schemeClr val="dk1"/>
              </a:buClr>
              <a:buSzPct val="104117"/>
              <a:buChar char="●"/>
            </a:pPr>
            <a:r>
              <a:rPr lang="en" sz="4858">
                <a:solidFill>
                  <a:schemeClr val="dk1"/>
                </a:solidFill>
              </a:rPr>
              <a:t>📅 Peak Sales Month: </a:t>
            </a:r>
            <a:r>
              <a:rPr b="1" lang="en" sz="4858">
                <a:solidFill>
                  <a:schemeClr val="dk1"/>
                </a:solidFill>
              </a:rPr>
              <a:t>March</a:t>
            </a:r>
            <a:endParaRPr b="1" sz="4858">
              <a:solidFill>
                <a:schemeClr val="dk1"/>
              </a:solidFill>
            </a:endParaRPr>
          </a:p>
          <a:p>
            <a:pPr indent="0" lvl="0" marL="457200" rtl="0" algn="l">
              <a:lnSpc>
                <a:spcPct val="150000"/>
              </a:lnSpc>
              <a:spcBef>
                <a:spcPts val="1200"/>
              </a:spcBef>
              <a:spcAft>
                <a:spcPts val="1200"/>
              </a:spcAft>
              <a:buNone/>
            </a:pPr>
            <a:r>
              <a:t/>
            </a:r>
            <a:endParaRPr sz="13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Story </a:t>
            </a:r>
            <a:endParaRPr/>
          </a:p>
        </p:txBody>
      </p:sp>
      <p:sp>
        <p:nvSpPr>
          <p:cNvPr id="82" name="Google Shape;82;p17"/>
          <p:cNvSpPr txBox="1"/>
          <p:nvPr>
            <p:ph idx="1" type="body"/>
          </p:nvPr>
        </p:nvSpPr>
        <p:spPr>
          <a:xfrm>
            <a:off x="311700" y="1122400"/>
            <a:ext cx="85206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1200"/>
              </a:spcAft>
              <a:buNone/>
            </a:pPr>
            <a:r>
              <a:rPr lang="en"/>
              <a:t>The Power BI dashboard provides a comprehensive view of sales performance. Electronics generated the highest sales, with Laptop emerging as the best-selling product. Sales varied across cities and months, revealing seasonal demand patterns. These insights help improve inventory management, marketing strategies, and overall business decision-making.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Business Impact </a:t>
            </a:r>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 Helps identify top-performing products and categories.</a:t>
            </a:r>
            <a:endParaRPr/>
          </a:p>
          <a:p>
            <a:pPr indent="0" lvl="0" marL="0" rtl="0" algn="l">
              <a:spcBef>
                <a:spcPts val="1200"/>
              </a:spcBef>
              <a:spcAft>
                <a:spcPts val="0"/>
              </a:spcAft>
              <a:buClr>
                <a:schemeClr val="dk1"/>
              </a:buClr>
              <a:buSzPts val="1100"/>
              <a:buFont typeface="Arial"/>
              <a:buNone/>
            </a:pPr>
            <a:r>
              <a:rPr lang="en"/>
              <a:t>📦 Improves inventory planning by analyzing sales trends.</a:t>
            </a:r>
            <a:endParaRPr/>
          </a:p>
          <a:p>
            <a:pPr indent="0" lvl="0" marL="0" rtl="0" algn="l">
              <a:spcBef>
                <a:spcPts val="1200"/>
              </a:spcBef>
              <a:spcAft>
                <a:spcPts val="0"/>
              </a:spcAft>
              <a:buClr>
                <a:schemeClr val="dk1"/>
              </a:buClr>
              <a:buSzPts val="1100"/>
              <a:buFont typeface="Arial"/>
              <a:buNone/>
            </a:pPr>
            <a:r>
              <a:rPr lang="en"/>
              <a:t>🎯 Supports targeted marketing based on customer demand.</a:t>
            </a:r>
            <a:endParaRPr/>
          </a:p>
          <a:p>
            <a:pPr indent="0" lvl="0" marL="0" rtl="0" algn="l">
              <a:spcBef>
                <a:spcPts val="1200"/>
              </a:spcBef>
              <a:spcAft>
                <a:spcPts val="0"/>
              </a:spcAft>
              <a:buClr>
                <a:schemeClr val="dk1"/>
              </a:buClr>
              <a:buSzPts val="1100"/>
              <a:buFont typeface="Arial"/>
              <a:buNone/>
            </a:pPr>
            <a:r>
              <a:rPr lang="en"/>
              <a:t>🌍 Assists management in comparing sales across different cities.</a:t>
            </a:r>
            <a:endParaRPr/>
          </a:p>
          <a:p>
            <a:pPr indent="0" lvl="0" marL="0" rtl="0" algn="l">
              <a:spcBef>
                <a:spcPts val="1200"/>
              </a:spcBef>
              <a:spcAft>
                <a:spcPts val="0"/>
              </a:spcAft>
              <a:buClr>
                <a:schemeClr val="dk1"/>
              </a:buClr>
              <a:buSzPts val="1100"/>
              <a:buFont typeface="Arial"/>
              <a:buNone/>
            </a:pPr>
            <a:r>
              <a:rPr lang="en"/>
              <a:t>💰 Enables data-driven decisions to increase sales and profitability.</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71875" y="234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500"/>
              <a:t>Hypothesis Testing</a:t>
            </a:r>
            <a:endParaRPr sz="4200"/>
          </a:p>
        </p:txBody>
      </p:sp>
      <p:sp>
        <p:nvSpPr>
          <p:cNvPr id="94" name="Google Shape;94;p19"/>
          <p:cNvSpPr txBox="1"/>
          <p:nvPr>
            <p:ph idx="1" type="body"/>
          </p:nvPr>
        </p:nvSpPr>
        <p:spPr>
          <a:xfrm>
            <a:off x="311700" y="807150"/>
            <a:ext cx="8520600" cy="40455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1500">
                <a:solidFill>
                  <a:schemeClr val="dk1"/>
                </a:solidFill>
              </a:rPr>
              <a:t>Business Question</a:t>
            </a:r>
            <a:endParaRPr b="1" sz="1500">
              <a:solidFill>
                <a:schemeClr val="dk1"/>
              </a:solidFill>
            </a:endParaRPr>
          </a:p>
          <a:p>
            <a:pPr indent="0" lvl="0" marL="0" rtl="0" algn="l">
              <a:spcBef>
                <a:spcPts val="1200"/>
              </a:spcBef>
              <a:spcAft>
                <a:spcPts val="0"/>
              </a:spcAft>
              <a:buClr>
                <a:schemeClr val="dk1"/>
              </a:buClr>
              <a:buSzPts val="1100"/>
              <a:buFont typeface="Arial"/>
              <a:buNone/>
            </a:pPr>
            <a:r>
              <a:rPr lang="en" sz="1300">
                <a:solidFill>
                  <a:schemeClr val="dk1"/>
                </a:solidFill>
              </a:rPr>
              <a:t>Does product category significantly affect total sales?</a:t>
            </a:r>
            <a:endParaRPr sz="1300">
              <a:solidFill>
                <a:schemeClr val="dk1"/>
              </a:solidFill>
            </a:endParaRPr>
          </a:p>
          <a:p>
            <a:pPr indent="0" lvl="0" marL="0" rtl="0" algn="l">
              <a:spcBef>
                <a:spcPts val="1400"/>
              </a:spcBef>
              <a:spcAft>
                <a:spcPts val="0"/>
              </a:spcAft>
              <a:buClr>
                <a:schemeClr val="dk1"/>
              </a:buClr>
              <a:buSzPts val="1100"/>
              <a:buFont typeface="Arial"/>
              <a:buNone/>
            </a:pPr>
            <a:r>
              <a:rPr b="1" lang="en" sz="1500">
                <a:solidFill>
                  <a:schemeClr val="dk1"/>
                </a:solidFill>
              </a:rPr>
              <a:t>H₀ (Null Hypothesis)</a:t>
            </a:r>
            <a:endParaRPr b="1" sz="1500">
              <a:solidFill>
                <a:schemeClr val="dk1"/>
              </a:solidFill>
            </a:endParaRPr>
          </a:p>
          <a:p>
            <a:pPr indent="0" lvl="0" marL="0" rtl="0" algn="l">
              <a:spcBef>
                <a:spcPts val="1200"/>
              </a:spcBef>
              <a:spcAft>
                <a:spcPts val="0"/>
              </a:spcAft>
              <a:buClr>
                <a:schemeClr val="dk1"/>
              </a:buClr>
              <a:buSzPts val="1100"/>
              <a:buFont typeface="Arial"/>
              <a:buNone/>
            </a:pPr>
            <a:r>
              <a:rPr lang="en" sz="1300">
                <a:solidFill>
                  <a:schemeClr val="dk1"/>
                </a:solidFill>
              </a:rPr>
              <a:t>Product category has no significant effect on total sales.</a:t>
            </a:r>
            <a:endParaRPr sz="1300">
              <a:solidFill>
                <a:schemeClr val="dk1"/>
              </a:solidFill>
            </a:endParaRPr>
          </a:p>
          <a:p>
            <a:pPr indent="0" lvl="0" marL="0" rtl="0" algn="l">
              <a:spcBef>
                <a:spcPts val="1400"/>
              </a:spcBef>
              <a:spcAft>
                <a:spcPts val="0"/>
              </a:spcAft>
              <a:buClr>
                <a:schemeClr val="dk1"/>
              </a:buClr>
              <a:buSzPts val="1100"/>
              <a:buFont typeface="Arial"/>
              <a:buNone/>
            </a:pPr>
            <a:r>
              <a:rPr b="1" lang="en" sz="1500">
                <a:solidFill>
                  <a:schemeClr val="dk1"/>
                </a:solidFill>
              </a:rPr>
              <a:t>H₁ (Alternative Hypothesis)</a:t>
            </a:r>
            <a:endParaRPr b="1" sz="1500">
              <a:solidFill>
                <a:schemeClr val="dk1"/>
              </a:solidFill>
            </a:endParaRPr>
          </a:p>
          <a:p>
            <a:pPr indent="0" lvl="0" marL="0" rtl="0" algn="l">
              <a:spcBef>
                <a:spcPts val="1200"/>
              </a:spcBef>
              <a:spcAft>
                <a:spcPts val="0"/>
              </a:spcAft>
              <a:buClr>
                <a:schemeClr val="dk1"/>
              </a:buClr>
              <a:buSzPts val="1100"/>
              <a:buFont typeface="Arial"/>
              <a:buNone/>
            </a:pPr>
            <a:r>
              <a:rPr lang="en" sz="1300">
                <a:solidFill>
                  <a:schemeClr val="dk1"/>
                </a:solidFill>
              </a:rPr>
              <a:t>Product category has a significant effect on total sales.</a:t>
            </a:r>
            <a:endParaRPr sz="1300">
              <a:solidFill>
                <a:schemeClr val="dk1"/>
              </a:solidFill>
            </a:endParaRPr>
          </a:p>
          <a:p>
            <a:pPr indent="0" lvl="0" marL="0" rtl="0" algn="l">
              <a:spcBef>
                <a:spcPts val="1400"/>
              </a:spcBef>
              <a:spcAft>
                <a:spcPts val="0"/>
              </a:spcAft>
              <a:buClr>
                <a:schemeClr val="dk1"/>
              </a:buClr>
              <a:buSzPts val="1100"/>
              <a:buFont typeface="Arial"/>
              <a:buNone/>
            </a:pPr>
            <a:r>
              <a:rPr b="1" lang="en" sz="1500">
                <a:solidFill>
                  <a:schemeClr val="dk1"/>
                </a:solidFill>
              </a:rPr>
              <a:t>Observation</a:t>
            </a:r>
            <a:endParaRPr b="1" sz="1500">
              <a:solidFill>
                <a:schemeClr val="dk1"/>
              </a:solidFill>
            </a:endParaRPr>
          </a:p>
          <a:p>
            <a:pPr indent="0" lvl="0" marL="0" rtl="0" algn="l">
              <a:spcBef>
                <a:spcPts val="1200"/>
              </a:spcBef>
              <a:spcAft>
                <a:spcPts val="0"/>
              </a:spcAft>
              <a:buClr>
                <a:schemeClr val="dk1"/>
              </a:buClr>
              <a:buSzPts val="1100"/>
              <a:buFont typeface="Arial"/>
              <a:buNone/>
            </a:pPr>
            <a:r>
              <a:rPr lang="en" sz="1300">
                <a:solidFill>
                  <a:schemeClr val="dk1"/>
                </a:solidFill>
              </a:rPr>
              <a:t>The dashboard indicates that Electronics generated higher sales than other categories.</a:t>
            </a:r>
            <a:endParaRPr sz="1300">
              <a:solidFill>
                <a:schemeClr val="dk1"/>
              </a:solidFill>
            </a:endParaRPr>
          </a:p>
          <a:p>
            <a:pPr indent="0" lvl="0" marL="0" rtl="0" algn="l">
              <a:spcBef>
                <a:spcPts val="1400"/>
              </a:spcBef>
              <a:spcAft>
                <a:spcPts val="0"/>
              </a:spcAft>
              <a:buClr>
                <a:schemeClr val="dk1"/>
              </a:buClr>
              <a:buSzPts val="1100"/>
              <a:buFont typeface="Arial"/>
              <a:buNone/>
            </a:pPr>
            <a:r>
              <a:rPr b="1" lang="en" sz="1500">
                <a:solidFill>
                  <a:schemeClr val="dk1"/>
                </a:solidFill>
              </a:rPr>
              <a:t>Business Interpretation</a:t>
            </a:r>
            <a:endParaRPr b="1" sz="1500">
              <a:solidFill>
                <a:schemeClr val="dk1"/>
              </a:solidFill>
            </a:endParaRPr>
          </a:p>
          <a:p>
            <a:pPr indent="0" lvl="0" marL="0" rtl="0" algn="l">
              <a:spcBef>
                <a:spcPts val="1200"/>
              </a:spcBef>
              <a:spcAft>
                <a:spcPts val="0"/>
              </a:spcAft>
              <a:buClr>
                <a:schemeClr val="dk1"/>
              </a:buClr>
              <a:buSzPts val="1100"/>
              <a:buFont typeface="Arial"/>
              <a:buNone/>
            </a:pPr>
            <a:r>
              <a:rPr lang="en" sz="1300">
                <a:solidFill>
                  <a:schemeClr val="dk1"/>
                </a:solidFill>
              </a:rPr>
              <a:t>The dashboard suggests a relationship between product category and sales. However, an actual statistical test (such as ANOVA or Chi-square, depending on the data) would be required to confirm statistical significance.</a:t>
            </a:r>
            <a:endParaRPr sz="1300">
              <a:solidFill>
                <a:schemeClr val="dk1"/>
              </a:solidFill>
            </a:endParaRPr>
          </a:p>
          <a:p>
            <a:pPr indent="0" lvl="0" marL="381000" marR="381000" rtl="0" algn="l">
              <a:lnSpc>
                <a:spcPct val="95000"/>
              </a:lnSpc>
              <a:spcBef>
                <a:spcPts val="1200"/>
              </a:spcBef>
              <a:spcAft>
                <a:spcPts val="0"/>
              </a:spcAft>
              <a:buClr>
                <a:schemeClr val="dk1"/>
              </a:buClr>
              <a:buSzPts val="688"/>
              <a:buFont typeface="Arial"/>
              <a:buNone/>
            </a:pPr>
            <a:r>
              <a:t/>
            </a:r>
            <a:endParaRPr b="1" sz="1213">
              <a:solidFill>
                <a:schemeClr val="dk1"/>
              </a:solidFill>
            </a:endParaRPr>
          </a:p>
          <a:p>
            <a:pPr indent="0" lvl="0" marL="0" rtl="0" algn="l">
              <a:lnSpc>
                <a:spcPct val="95000"/>
              </a:lnSpc>
              <a:spcBef>
                <a:spcPts val="1200"/>
              </a:spcBef>
              <a:spcAft>
                <a:spcPts val="1200"/>
              </a:spcAft>
              <a:buSzPts val="688"/>
              <a:buNone/>
            </a:pPr>
            <a:r>
              <a:t/>
            </a:r>
            <a:endParaRPr sz="1125"/>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Business Recommendations </a:t>
            </a:r>
            <a:endParaRPr/>
          </a:p>
        </p:txBody>
      </p:sp>
      <p:sp>
        <p:nvSpPr>
          <p:cNvPr id="100" name="Google Shape;10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lnSpc>
                <a:spcPct val="200000"/>
              </a:lnSpc>
              <a:spcBef>
                <a:spcPts val="1200"/>
              </a:spcBef>
              <a:spcAft>
                <a:spcPts val="0"/>
              </a:spcAft>
              <a:buClr>
                <a:schemeClr val="dk1"/>
              </a:buClr>
              <a:buSzPts val="1500"/>
              <a:buChar char="●"/>
            </a:pPr>
            <a:r>
              <a:rPr lang="en" sz="1500">
                <a:solidFill>
                  <a:schemeClr val="dk1"/>
                </a:solidFill>
              </a:rPr>
              <a:t>Increase stock for high-demand products like </a:t>
            </a:r>
            <a:r>
              <a:rPr b="1" lang="en" sz="1500">
                <a:solidFill>
                  <a:schemeClr val="dk1"/>
                </a:solidFill>
              </a:rPr>
              <a:t>Laptop</a:t>
            </a:r>
            <a:r>
              <a:rPr lang="en" sz="1500">
                <a:solidFill>
                  <a:schemeClr val="dk1"/>
                </a:solidFill>
              </a:rPr>
              <a:t>.</a:t>
            </a:r>
            <a:endParaRPr sz="1500">
              <a:solidFill>
                <a:schemeClr val="dk1"/>
              </a:solidFill>
            </a:endParaRPr>
          </a:p>
          <a:p>
            <a:pPr indent="-323850" lvl="0" marL="457200" rtl="0" algn="l">
              <a:lnSpc>
                <a:spcPct val="200000"/>
              </a:lnSpc>
              <a:spcBef>
                <a:spcPts val="0"/>
              </a:spcBef>
              <a:spcAft>
                <a:spcPts val="0"/>
              </a:spcAft>
              <a:buClr>
                <a:schemeClr val="dk1"/>
              </a:buClr>
              <a:buSzPts val="1500"/>
              <a:buChar char="●"/>
            </a:pPr>
            <a:r>
              <a:rPr lang="en" sz="1500">
                <a:solidFill>
                  <a:schemeClr val="dk1"/>
                </a:solidFill>
              </a:rPr>
              <a:t>Continue promoting the </a:t>
            </a:r>
            <a:r>
              <a:rPr b="1" lang="en" sz="1500">
                <a:solidFill>
                  <a:schemeClr val="dk1"/>
                </a:solidFill>
              </a:rPr>
              <a:t>Electronics</a:t>
            </a:r>
            <a:r>
              <a:rPr lang="en" sz="1500">
                <a:solidFill>
                  <a:schemeClr val="dk1"/>
                </a:solidFill>
              </a:rPr>
              <a:t> category.</a:t>
            </a:r>
            <a:endParaRPr sz="1500">
              <a:solidFill>
                <a:schemeClr val="dk1"/>
              </a:solidFill>
            </a:endParaRPr>
          </a:p>
          <a:p>
            <a:pPr indent="-323850" lvl="0" marL="457200" rtl="0" algn="l">
              <a:lnSpc>
                <a:spcPct val="200000"/>
              </a:lnSpc>
              <a:spcBef>
                <a:spcPts val="0"/>
              </a:spcBef>
              <a:spcAft>
                <a:spcPts val="0"/>
              </a:spcAft>
              <a:buClr>
                <a:schemeClr val="dk1"/>
              </a:buClr>
              <a:buSzPts val="1500"/>
              <a:buChar char="●"/>
            </a:pPr>
            <a:r>
              <a:rPr lang="en" sz="1500">
                <a:solidFill>
                  <a:schemeClr val="dk1"/>
                </a:solidFill>
              </a:rPr>
              <a:t>Develop marketing strategies for lower-performing categories.</a:t>
            </a:r>
            <a:endParaRPr sz="1500">
              <a:solidFill>
                <a:schemeClr val="dk1"/>
              </a:solidFill>
            </a:endParaRPr>
          </a:p>
          <a:p>
            <a:pPr indent="-323850" lvl="0" marL="457200" rtl="0" algn="l">
              <a:lnSpc>
                <a:spcPct val="200000"/>
              </a:lnSpc>
              <a:spcBef>
                <a:spcPts val="0"/>
              </a:spcBef>
              <a:spcAft>
                <a:spcPts val="0"/>
              </a:spcAft>
              <a:buClr>
                <a:schemeClr val="dk1"/>
              </a:buClr>
              <a:buSzPts val="1500"/>
              <a:buChar char="●"/>
            </a:pPr>
            <a:r>
              <a:rPr lang="en" sz="1500">
                <a:solidFill>
                  <a:schemeClr val="dk1"/>
                </a:solidFill>
              </a:rPr>
              <a:t>Analyze customer preferences regularly to improve sales.</a:t>
            </a:r>
            <a:endParaRPr sz="1500">
              <a:solidFill>
                <a:schemeClr val="dk1"/>
              </a:solidFill>
            </a:endParaRPr>
          </a:p>
          <a:p>
            <a:pPr indent="-323850" lvl="0" marL="457200" rtl="0" algn="l">
              <a:lnSpc>
                <a:spcPct val="200000"/>
              </a:lnSpc>
              <a:spcBef>
                <a:spcPts val="0"/>
              </a:spcBef>
              <a:spcAft>
                <a:spcPts val="0"/>
              </a:spcAft>
              <a:buClr>
                <a:schemeClr val="dk1"/>
              </a:buClr>
              <a:buSzPts val="1500"/>
              <a:buChar char="●"/>
            </a:pPr>
            <a:r>
              <a:rPr lang="en" sz="1500">
                <a:solidFill>
                  <a:schemeClr val="dk1"/>
                </a:solidFill>
              </a:rPr>
              <a:t>Use monthly sales trends for better inventory and sales planning.</a:t>
            </a:r>
            <a:endParaRPr sz="1500">
              <a:solidFill>
                <a:schemeClr val="dk1"/>
              </a:solidFill>
            </a:endParaRPr>
          </a:p>
          <a:p>
            <a:pPr indent="-323850" lvl="0" marL="457200" rtl="0" algn="l">
              <a:lnSpc>
                <a:spcPct val="200000"/>
              </a:lnSpc>
              <a:spcBef>
                <a:spcPts val="0"/>
              </a:spcBef>
              <a:spcAft>
                <a:spcPts val="0"/>
              </a:spcAft>
              <a:buClr>
                <a:schemeClr val="dk1"/>
              </a:buClr>
              <a:buSzPts val="1500"/>
              <a:buChar char="●"/>
            </a:pPr>
            <a:r>
              <a:rPr lang="en" sz="1500">
                <a:solidFill>
                  <a:schemeClr val="dk1"/>
                </a:solidFill>
              </a:rPr>
              <a:t>Focus promotional campaigns during high-sales months. </a:t>
            </a:r>
            <a:endParaRPr sz="1500">
              <a:solidFill>
                <a:schemeClr val="dk1"/>
              </a:solidFill>
            </a:endParaRPr>
          </a:p>
          <a:p>
            <a:pPr indent="0" lvl="0" marL="45720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 </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1200"/>
              </a:spcAft>
              <a:buNone/>
            </a:pPr>
            <a:r>
              <a:rPr lang="en"/>
              <a:t>This project demonstrates how Power BI can transform raw sales data into meaningful business insights. The interactive dashboard helps analyze sales trends, product performance, and customer behavior, enabling better business decisions and supporting future growth. </a:t>
            </a:r>
            <a:endParaRPr sz="1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Thank You </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600">
                <a:solidFill>
                  <a:schemeClr val="dk1"/>
                </a:solidFill>
              </a:rPr>
              <a:t>Thank You!</a:t>
            </a:r>
            <a:endParaRPr b="1" sz="1600">
              <a:solidFill>
                <a:schemeClr val="dk1"/>
              </a:solidFill>
            </a:endParaRPr>
          </a:p>
          <a:p>
            <a:pPr indent="0" lvl="0" marL="0" rtl="0" algn="l">
              <a:spcBef>
                <a:spcPts val="1200"/>
              </a:spcBef>
              <a:spcAft>
                <a:spcPts val="0"/>
              </a:spcAft>
              <a:buClr>
                <a:schemeClr val="dk1"/>
              </a:buClr>
              <a:buSzPts val="1100"/>
              <a:buFont typeface="Arial"/>
              <a:buNone/>
            </a:pPr>
            <a:r>
              <a:rPr lang="en" sz="1600">
                <a:solidFill>
                  <a:schemeClr val="dk1"/>
                </a:solidFill>
              </a:rPr>
              <a:t>Thank you for your time and attention.</a:t>
            </a:r>
            <a:endParaRPr sz="1600">
              <a:solidFill>
                <a:schemeClr val="dk1"/>
              </a:solidFill>
            </a:endParaRPr>
          </a:p>
          <a:p>
            <a:pPr indent="0" lvl="0" marL="0" rtl="0" algn="l">
              <a:spcBef>
                <a:spcPts val="1200"/>
              </a:spcBef>
              <a:spcAft>
                <a:spcPts val="0"/>
              </a:spcAft>
              <a:buClr>
                <a:schemeClr val="dk1"/>
              </a:buClr>
              <a:buSzPts val="1100"/>
              <a:buFont typeface="Arial"/>
              <a:buNone/>
            </a:pPr>
            <a:r>
              <a:rPr b="1" lang="en" sz="1600">
                <a:solidFill>
                  <a:schemeClr val="dk1"/>
                </a:solidFill>
              </a:rPr>
              <a:t>Questions?</a:t>
            </a:r>
            <a:endParaRPr b="1" sz="1600">
              <a:solidFill>
                <a:schemeClr val="dk1"/>
              </a:solidFill>
            </a:endParaRPr>
          </a:p>
          <a:p>
            <a:pPr indent="0" lvl="0" marL="0" rtl="0" algn="l">
              <a:spcBef>
                <a:spcPts val="1200"/>
              </a:spcBef>
              <a:spcAft>
                <a:spcPts val="1200"/>
              </a:spcAft>
              <a:buNone/>
            </a:pPr>
            <a:r>
              <a:t/>
            </a:r>
            <a:endParaRPr sz="23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